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66" r:id="rId10"/>
    <p:sldId id="2146847058" r:id="rId11"/>
    <p:sldId id="267" r:id="rId12"/>
    <p:sldId id="2146847057" r:id="rId13"/>
    <p:sldId id="2146847059" r:id="rId14"/>
    <p:sldId id="2146847060" r:id="rId15"/>
    <p:sldId id="268" r:id="rId16"/>
    <p:sldId id="2146847055" r:id="rId17"/>
    <p:sldId id="269" r:id="rId18"/>
    <p:sldId id="2146847056"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9/30/2026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9/30/2026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9/30/2026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9/30/2026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9/30/2026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9/30/2026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9/30/2026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9/30/2026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9/30/2026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9/30/2026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plastic-waste-analyzer-haesdk9h6ayjrwwxdoiwsm.streamlit.ap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tx1"/>
                </a:solidFill>
                <a:latin typeface="Arial" panose="020B0604020202020204" pitchFamily="34" charset="0"/>
                <a:cs typeface="Arial" panose="020B0604020202020204" pitchFamily="34" charset="0"/>
              </a:rPr>
              <a:t>AI-Powered Plastic Waste Analyzer &amp; Classification System</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1436110" y="4171724"/>
            <a:ext cx="9066998"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Ayushi Sharma</a:t>
            </a:r>
          </a:p>
          <a:p>
            <a:pPr marL="457200" indent="-457200">
              <a:buAutoNum type="arabicPeriod"/>
            </a:pPr>
            <a:r>
              <a:rPr lang="en-US" sz="2000" b="1" dirty="0">
                <a:solidFill>
                  <a:schemeClr val="accent1">
                    <a:lumMod val="75000"/>
                  </a:schemeClr>
                </a:solidFill>
                <a:latin typeface="Arial"/>
                <a:cs typeface="Arial"/>
              </a:rPr>
              <a:t>College Name- Uttarakhand Open University, Haldwani, Uttarakhand</a:t>
            </a:r>
          </a:p>
          <a:p>
            <a:pPr marL="457200" indent="-457200">
              <a:buAutoNum type="arabicPeriod"/>
            </a:pPr>
            <a:r>
              <a:rPr lang="en-US" sz="2000" b="1" dirty="0">
                <a:solidFill>
                  <a:schemeClr val="accent1">
                    <a:lumMod val="75000"/>
                  </a:schemeClr>
                </a:solidFill>
                <a:latin typeface="Arial"/>
                <a:cs typeface="Arial"/>
              </a:rPr>
              <a:t>Department- M.Sc. Zoology</a:t>
            </a:r>
          </a:p>
          <a:p>
            <a:r>
              <a:rPr lang="en-US" sz="2000" b="1" dirty="0">
                <a:solidFill>
                  <a:schemeClr val="accent1">
                    <a:lumMod val="75000"/>
                  </a:schemeClr>
                </a:solidFill>
                <a:latin typeface="Arial"/>
                <a:cs typeface="Arial"/>
              </a:rPr>
              <a:t>4.   AICTE ID- </a:t>
            </a:r>
            <a:r>
              <a:rPr lang="en-IN" sz="2000" b="1" dirty="0">
                <a:solidFill>
                  <a:schemeClr val="accent1">
                    <a:lumMod val="75000"/>
                  </a:schemeClr>
                </a:solidFill>
              </a:rPr>
              <a:t>STU6a673135a6ffe1785147701</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8627" y="0"/>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48627" y="983671"/>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400" b="1" dirty="0">
                <a:latin typeface="Arial"/>
                <a:ea typeface="+mn-lt"/>
                <a:cs typeface="Arial"/>
              </a:rPr>
              <a:t>Problem Statement </a:t>
            </a:r>
            <a:r>
              <a:rPr lang="en-US" sz="2400" dirty="0">
                <a:latin typeface="Arial"/>
                <a:ea typeface="+mn-lt"/>
                <a:cs typeface="Arial"/>
              </a:rPr>
              <a:t>(Should not include solution)</a:t>
            </a:r>
            <a:endParaRPr lang="en-US" sz="2400" dirty="0">
              <a:latin typeface="Arial"/>
              <a:cs typeface="Arial"/>
            </a:endParaRPr>
          </a:p>
          <a:p>
            <a:r>
              <a:rPr lang="en-US" sz="2400" b="1" dirty="0">
                <a:latin typeface="Arial"/>
                <a:ea typeface="+mn-lt"/>
                <a:cs typeface="Arial"/>
              </a:rPr>
              <a:t>Proposed System/Solution</a:t>
            </a:r>
            <a:endParaRPr lang="en-US" sz="2400" dirty="0">
              <a:latin typeface="Arial"/>
              <a:cs typeface="Arial"/>
            </a:endParaRPr>
          </a:p>
          <a:p>
            <a:r>
              <a:rPr lang="en-US" sz="2400" b="1" dirty="0">
                <a:latin typeface="Arial"/>
                <a:ea typeface="+mn-lt"/>
                <a:cs typeface="Calibri"/>
              </a:rPr>
              <a:t>System </a:t>
            </a:r>
            <a:r>
              <a:rPr lang="en-US" sz="2400" b="1" dirty="0">
                <a:latin typeface="Arial"/>
                <a:ea typeface="+mn-lt"/>
                <a:cs typeface="+mn-lt"/>
              </a:rPr>
              <a:t>Development Approach </a:t>
            </a:r>
            <a:r>
              <a:rPr lang="en-US" sz="2400" dirty="0">
                <a:latin typeface="Arial"/>
                <a:ea typeface="+mn-lt"/>
                <a:cs typeface="+mn-lt"/>
              </a:rPr>
              <a:t>(Technology Used) </a:t>
            </a:r>
          </a:p>
          <a:p>
            <a:r>
              <a:rPr lang="en-US" sz="2400" b="1" dirty="0">
                <a:latin typeface="Arial"/>
                <a:ea typeface="+mn-lt"/>
                <a:cs typeface="+mn-lt"/>
              </a:rPr>
              <a:t>Algorithm &amp; Deployment  </a:t>
            </a:r>
            <a:endParaRPr lang="en-US" sz="2400" dirty="0">
              <a:latin typeface="Arial"/>
              <a:cs typeface="Calibri"/>
            </a:endParaRPr>
          </a:p>
          <a:p>
            <a:r>
              <a:rPr lang="en-US" sz="2400" b="1" dirty="0">
                <a:latin typeface="Arial"/>
                <a:ea typeface="+mn-lt"/>
                <a:cs typeface="Arial"/>
              </a:rPr>
              <a:t>Result</a:t>
            </a:r>
          </a:p>
          <a:p>
            <a:r>
              <a:rPr lang="en-US" sz="2400" b="1" dirty="0">
                <a:latin typeface="Arial"/>
                <a:ea typeface="+mn-lt"/>
                <a:cs typeface="Arial"/>
              </a:rPr>
              <a:t>Conclusion</a:t>
            </a:r>
            <a:endParaRPr lang="en-US" sz="2400" dirty="0">
              <a:latin typeface="Arial"/>
              <a:cs typeface="Arial"/>
            </a:endParaRPr>
          </a:p>
          <a:p>
            <a:r>
              <a:rPr lang="en-US" sz="2400" b="1" dirty="0">
                <a:latin typeface="Arial"/>
                <a:ea typeface="+mn-lt"/>
                <a:cs typeface="Arial"/>
              </a:rPr>
              <a:t>Future Scope</a:t>
            </a:r>
          </a:p>
          <a:p>
            <a:r>
              <a:rPr lang="en-US" sz="2400" b="1" dirty="0">
                <a:latin typeface="Arial"/>
                <a:ea typeface="+mn-lt"/>
                <a:cs typeface="Arial"/>
              </a:rPr>
              <a:t>References</a:t>
            </a:r>
            <a:endParaRPr lang="en-US" sz="2400"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581193" y="0"/>
            <a:ext cx="11029615" cy="4673324"/>
          </a:xfrm>
        </p:spPr>
        <p:txBody>
          <a:bodyPr/>
          <a:lstStyle/>
          <a:p>
            <a:pPr marL="0" indent="0" algn="just">
              <a:buNone/>
            </a:pPr>
            <a:r>
              <a:rPr lang="en-US" sz="2400" dirty="0"/>
              <a:t>Manual waste segregation is slow, costly, and highly prone to human error, leading to low recycling rates and massive plastic pollution in landfills. Because everyday consumers and waste management facilities struggle to instantly differentiate between complex recyclable and non-recyclable materials, massive volumes of reusable plastic are discarded incorrectly, accelerating global ecological damage</a:t>
            </a:r>
            <a:r>
              <a:rPr lang="en-US" dirty="0"/>
              <a:t>.</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581192" y="808245"/>
            <a:ext cx="11613485" cy="5563973"/>
          </a:xfrm>
        </p:spPr>
        <p:txBody>
          <a:bodyPr vert="horz" lIns="91440" tIns="45720" rIns="91440" bIns="45720" rtlCol="0" anchor="ctr">
            <a:noAutofit/>
          </a:bodyPr>
          <a:lstStyle/>
          <a:p>
            <a:pPr marL="0" indent="0">
              <a:buNone/>
            </a:pPr>
            <a:r>
              <a:rPr lang="en-US" sz="2400" b="1" dirty="0">
                <a:latin typeface="Calibri"/>
                <a:cs typeface="Calibri"/>
              </a:rPr>
              <a:t>Plastic Waste Analyzer </a:t>
            </a:r>
            <a:r>
              <a:rPr lang="en-US" sz="2400" dirty="0">
                <a:latin typeface="Calibri"/>
                <a:cs typeface="Calibri"/>
              </a:rPr>
              <a:t>is an AI-powered image classification web application that predicts the material category of waste items to optimize smart recycling.</a:t>
            </a:r>
          </a:p>
          <a:p>
            <a:pPr marL="305435" indent="-305435"/>
            <a:r>
              <a:rPr lang="en-US" sz="2400" dirty="0">
                <a:latin typeface="Calibri"/>
                <a:cs typeface="Calibri"/>
              </a:rPr>
              <a:t>Collects user-provided waste images through a web interface.</a:t>
            </a:r>
          </a:p>
          <a:p>
            <a:pPr marL="305435" indent="-305435"/>
            <a:r>
              <a:rPr lang="en-US" sz="2400" dirty="0">
                <a:latin typeface="Calibri"/>
                <a:cs typeface="Calibri"/>
              </a:rPr>
              <a:t>Processes visual characteristics using advanced multimodal computer vision.</a:t>
            </a:r>
          </a:p>
          <a:p>
            <a:pPr marL="305435" indent="-305435"/>
            <a:r>
              <a:rPr lang="en-US" sz="2400" dirty="0">
                <a:latin typeface="Calibri"/>
                <a:cs typeface="Calibri"/>
              </a:rPr>
              <a:t>Uses a pre-trained Google Gemini foundational model.</a:t>
            </a:r>
          </a:p>
          <a:p>
            <a:pPr marL="305435" indent="-305435"/>
            <a:r>
              <a:rPr lang="en-US" sz="2400" dirty="0">
                <a:latin typeface="Calibri"/>
                <a:cs typeface="Calibri"/>
              </a:rPr>
              <a:t>Predicts whether the waste is recyclable plastic, glass, metal, paper, or organic.</a:t>
            </a:r>
          </a:p>
          <a:p>
            <a:pPr marL="305435" indent="-305435"/>
            <a:r>
              <a:rPr lang="en-US" sz="2400" dirty="0">
                <a:latin typeface="Calibri"/>
                <a:cs typeface="Calibri"/>
              </a:rPr>
              <a:t>Displays prediction confidence and direct sorting guidance.</a:t>
            </a:r>
          </a:p>
          <a:p>
            <a:pPr marL="305435" indent="-305435"/>
            <a:r>
              <a:rPr lang="en-US" sz="2400" dirty="0">
                <a:latin typeface="Calibri"/>
                <a:cs typeface="Calibri"/>
              </a:rPr>
              <a:t>Provides proper disposal paths and bin colors through an interactive dashboard.</a:t>
            </a:r>
            <a:endParaRPr lang="en-IN" sz="2400" dirty="0">
              <a:latin typeface="Calibri"/>
              <a:cs typeface="Calibri"/>
            </a:endParaRPr>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2" y="1049153"/>
            <a:ext cx="11152003" cy="5342021"/>
          </a:xfrm>
        </p:spPr>
        <p:txBody>
          <a:bodyPr>
            <a:normAutofit fontScale="55000" lnSpcReduction="20000"/>
          </a:bodyPr>
          <a:lstStyle/>
          <a:p>
            <a:pPr marL="0" indent="0">
              <a:buNone/>
            </a:pPr>
            <a:r>
              <a:rPr lang="en-IN" sz="3300" b="1" dirty="0">
                <a:solidFill>
                  <a:srgbClr val="0F0F0F"/>
                </a:solidFill>
              </a:rPr>
              <a:t>Technologies Used:</a:t>
            </a:r>
          </a:p>
          <a:p>
            <a:r>
              <a:rPr lang="en-IN" sz="2600" dirty="0">
                <a:solidFill>
                  <a:srgbClr val="0F0F0F"/>
                </a:solidFill>
              </a:rPr>
              <a:t>Python</a:t>
            </a:r>
          </a:p>
          <a:p>
            <a:r>
              <a:rPr lang="en-IN" sz="2600" dirty="0">
                <a:solidFill>
                  <a:srgbClr val="0F0F0F"/>
                </a:solidFill>
              </a:rPr>
              <a:t> Google Generative AI SDK</a:t>
            </a:r>
          </a:p>
          <a:p>
            <a:r>
              <a:rPr lang="en-IN" sz="2600" dirty="0">
                <a:solidFill>
                  <a:srgbClr val="0F0F0F"/>
                </a:solidFill>
              </a:rPr>
              <a:t> </a:t>
            </a:r>
            <a:r>
              <a:rPr lang="en-IN" sz="2600" dirty="0" err="1">
                <a:solidFill>
                  <a:srgbClr val="0F0F0F"/>
                </a:solidFill>
              </a:rPr>
              <a:t>Streamlit</a:t>
            </a:r>
            <a:endParaRPr lang="en-IN" sz="2600" dirty="0">
              <a:solidFill>
                <a:srgbClr val="0F0F0F"/>
              </a:solidFill>
            </a:endParaRPr>
          </a:p>
          <a:p>
            <a:r>
              <a:rPr lang="en-IN" sz="2600" dirty="0">
                <a:solidFill>
                  <a:srgbClr val="0F0F0F"/>
                </a:solidFill>
              </a:rPr>
              <a:t> Pillow (PIL)</a:t>
            </a:r>
          </a:p>
          <a:p>
            <a:r>
              <a:rPr lang="en-IN" sz="2600" dirty="0">
                <a:solidFill>
                  <a:srgbClr val="0F0F0F"/>
                </a:solidFill>
              </a:rPr>
              <a:t> NumPy</a:t>
            </a:r>
          </a:p>
          <a:p>
            <a:r>
              <a:rPr lang="en-IN" sz="2600" dirty="0">
                <a:solidFill>
                  <a:srgbClr val="0F0F0F"/>
                </a:solidFill>
              </a:rPr>
              <a:t> Custom Prompt Engineering Dataset</a:t>
            </a:r>
          </a:p>
          <a:p>
            <a:pPr marL="0" indent="0">
              <a:buNone/>
            </a:pPr>
            <a:r>
              <a:rPr lang="en-IN" sz="3300" b="1" dirty="0">
                <a:solidFill>
                  <a:srgbClr val="0F0F0F"/>
                </a:solidFill>
              </a:rPr>
              <a:t>Input Features:</a:t>
            </a:r>
          </a:p>
          <a:p>
            <a:r>
              <a:rPr lang="en-IN" sz="2600" dirty="0">
                <a:solidFill>
                  <a:srgbClr val="0F0F0F"/>
                </a:solidFill>
              </a:rPr>
              <a:t>Waste Item Image: Graphic file uploads (.jpg, .</a:t>
            </a:r>
            <a:r>
              <a:rPr lang="en-IN" sz="2600" dirty="0" err="1">
                <a:solidFill>
                  <a:srgbClr val="0F0F0F"/>
                </a:solidFill>
              </a:rPr>
              <a:t>png</a:t>
            </a:r>
            <a:r>
              <a:rPr lang="en-IN" sz="2600" dirty="0">
                <a:solidFill>
                  <a:srgbClr val="0F0F0F"/>
                </a:solidFill>
              </a:rPr>
              <a:t>) provided via browser interface</a:t>
            </a:r>
          </a:p>
          <a:p>
            <a:r>
              <a:rPr lang="en-IN" sz="2600" dirty="0">
                <a:solidFill>
                  <a:srgbClr val="0F0F0F"/>
                </a:solidFill>
              </a:rPr>
              <a:t>Visual Characteristics: Object shape, material transparency, and texture attributes</a:t>
            </a:r>
          </a:p>
          <a:p>
            <a:r>
              <a:rPr lang="en-IN" sz="2600" dirty="0">
                <a:solidFill>
                  <a:srgbClr val="0F0F0F"/>
                </a:solidFill>
              </a:rPr>
              <a:t> Colour Profiles: Visual markers indicating type of material </a:t>
            </a:r>
          </a:p>
          <a:p>
            <a:r>
              <a:rPr lang="en-IN" sz="2600" dirty="0">
                <a:solidFill>
                  <a:srgbClr val="0F0F0F"/>
                </a:solidFill>
              </a:rPr>
              <a:t>Text Labels: Brand names or printing printed directly on the waste item</a:t>
            </a:r>
          </a:p>
          <a:p>
            <a:pPr marL="0" indent="0">
              <a:buNone/>
            </a:pPr>
            <a:r>
              <a:rPr lang="en-IN" sz="3300" b="1" dirty="0">
                <a:solidFill>
                  <a:srgbClr val="0F0F0F"/>
                </a:solidFill>
              </a:rPr>
              <a:t>Output:</a:t>
            </a:r>
          </a:p>
          <a:p>
            <a:r>
              <a:rPr lang="en-IN" sz="2600" dirty="0">
                <a:solidFill>
                  <a:srgbClr val="0F0F0F"/>
                </a:solidFill>
              </a:rPr>
              <a:t>Predicted Material Category: Recyclable Plastic, Glass, Metal, Paper, or Organic</a:t>
            </a:r>
          </a:p>
          <a:p>
            <a:r>
              <a:rPr lang="en-IN" sz="2600" dirty="0">
                <a:solidFill>
                  <a:srgbClr val="0F0F0F"/>
                </a:solidFill>
              </a:rPr>
              <a:t>Confidence Level: Percentage score showing prediction accuracy</a:t>
            </a:r>
          </a:p>
          <a:p>
            <a:r>
              <a:rPr lang="en-IN" sz="2600" dirty="0">
                <a:solidFill>
                  <a:srgbClr val="0F0F0F"/>
                </a:solidFill>
              </a:rPr>
              <a:t>Disposal Action: Specific recycling bin colour destination (Blue / Green)</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311651"/>
            <a:ext cx="11029615" cy="4673324"/>
          </a:xfrm>
        </p:spPr>
        <p:txBody>
          <a:bodyPr>
            <a:normAutofit lnSpcReduction="10000"/>
          </a:bodyPr>
          <a:lstStyle/>
          <a:p>
            <a:pPr marL="305435" indent="-305435"/>
            <a:r>
              <a:rPr lang="en-IN" sz="3200" b="1" dirty="0"/>
              <a:t>Workflow:</a:t>
            </a:r>
          </a:p>
          <a:p>
            <a:pPr marL="342900" indent="-342900">
              <a:buAutoNum type="arabicPeriod"/>
            </a:pPr>
            <a:r>
              <a:rPr lang="en-IN" sz="2000" dirty="0"/>
              <a:t>User Input(Image file upload via </a:t>
            </a:r>
            <a:r>
              <a:rPr lang="en-IN" sz="2000" dirty="0" err="1"/>
              <a:t>Streamlit</a:t>
            </a:r>
            <a:r>
              <a:rPr lang="en-IN" sz="2000" dirty="0"/>
              <a:t>)⬇️</a:t>
            </a:r>
          </a:p>
          <a:p>
            <a:pPr marL="342900" indent="-342900">
              <a:buAutoNum type="arabicPeriod"/>
            </a:pPr>
            <a:r>
              <a:rPr lang="en-IN" sz="2000" dirty="0"/>
              <a:t>Data Collection(Extracting image pixel arrays and metadata)⬇️</a:t>
            </a:r>
          </a:p>
          <a:p>
            <a:pPr marL="342900" indent="-342900">
              <a:buAutoNum type="arabicPeriod"/>
            </a:pPr>
            <a:r>
              <a:rPr lang="en-IN" sz="2000" dirty="0"/>
              <a:t>Data Preprocessing(Resizing and image formatting via Pillow)⬇️</a:t>
            </a:r>
          </a:p>
          <a:p>
            <a:pPr marL="342900" indent="-342900">
              <a:buAutoNum type="arabicPeriod"/>
            </a:pPr>
            <a:r>
              <a:rPr lang="en-IN" sz="2000" dirty="0"/>
              <a:t>API Integration(Secure payload transfer using custom prompts)⬇️</a:t>
            </a:r>
          </a:p>
          <a:p>
            <a:pPr marL="342900" indent="-342900">
              <a:buAutoNum type="arabicPeriod"/>
            </a:pPr>
            <a:r>
              <a:rPr lang="en-IN" sz="2000" dirty="0"/>
              <a:t>Trained Foundational Model(Google Gemini Multimodal API Processing)⬇️</a:t>
            </a:r>
          </a:p>
          <a:p>
            <a:pPr marL="342900" indent="-342900">
              <a:buAutoNum type="arabicPeriod"/>
            </a:pPr>
            <a:r>
              <a:rPr lang="en-IN" sz="2000" dirty="0"/>
              <a:t>Prediction(Material Category Classification: Plastic, Glass, etc.)⬇️</a:t>
            </a:r>
          </a:p>
          <a:p>
            <a:pPr marL="342900" indent="-342900">
              <a:buAutoNum type="arabicPeriod"/>
            </a:pPr>
            <a:r>
              <a:rPr lang="en-IN" sz="2000" dirty="0"/>
              <a:t>Probability Calculation(Model confidence score generation)⬇️</a:t>
            </a:r>
          </a:p>
          <a:p>
            <a:pPr marL="342900" indent="-342900">
              <a:buAutoNum type="arabicPeriod"/>
            </a:pPr>
            <a:r>
              <a:rPr lang="en-IN" sz="2000" dirty="0"/>
              <a:t>Result Display(Category + Confidence Score + Disposal Bin Directives)</a:t>
            </a:r>
          </a:p>
          <a:p>
            <a:pPr marL="0" indent="0">
              <a:buNone/>
            </a:pPr>
            <a:r>
              <a:rPr lang="en-IN" sz="2400" b="1" dirty="0"/>
              <a:t>Deployment: </a:t>
            </a:r>
            <a:r>
              <a:rPr lang="en-IN" sz="2400" dirty="0" err="1"/>
              <a:t>Streamlit</a:t>
            </a:r>
            <a:r>
              <a:rPr lang="en-IN" sz="2400" dirty="0"/>
              <a:t> -based web application</a:t>
            </a:r>
            <a:r>
              <a:rPr lang="en-IN" dirty="0"/>
              <a:t>.</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C846A-DB6F-81BD-0140-CC94FE273E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8C0F0F-A6DC-C4B9-C9EB-09CA3AFBD1ED}"/>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5258DFD3-FFAA-7141-5FEB-208A79720FEF}"/>
              </a:ext>
            </a:extLst>
          </p:cNvPr>
          <p:cNvPicPr>
            <a:picLocks noGrp="1" noChangeAspect="1"/>
          </p:cNvPicPr>
          <p:nvPr>
            <p:ph idx="1"/>
          </p:nvPr>
        </p:nvPicPr>
        <p:blipFill>
          <a:blip r:embed="rId2"/>
          <a:stretch>
            <a:fillRect/>
          </a:stretch>
        </p:blipFill>
        <p:spPr>
          <a:xfrm>
            <a:off x="685800" y="1482244"/>
            <a:ext cx="10276030" cy="4562956"/>
          </a:xfrm>
          <a:prstGeom prst="rect">
            <a:avLst/>
          </a:prstGeom>
        </p:spPr>
      </p:pic>
    </p:spTree>
    <p:extLst>
      <p:ext uri="{BB962C8B-B14F-4D97-AF65-F5344CB8AC3E}">
        <p14:creationId xmlns:p14="http://schemas.microsoft.com/office/powerpoint/2010/main" val="3123639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9676CF53-4260-DB73-507D-C952ABCBCD60}"/>
              </a:ext>
            </a:extLst>
          </p:cNvPr>
          <p:cNvPicPr>
            <a:picLocks noGrp="1" noChangeAspect="1"/>
          </p:cNvPicPr>
          <p:nvPr>
            <p:ph idx="1"/>
          </p:nvPr>
        </p:nvPicPr>
        <p:blipFill>
          <a:blip r:embed="rId2"/>
          <a:stretch>
            <a:fillRect/>
          </a:stretch>
        </p:blipFill>
        <p:spPr>
          <a:xfrm>
            <a:off x="723900" y="1367944"/>
            <a:ext cx="10198100" cy="4673600"/>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99495-7944-00C9-5E75-3BEBC74FE3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772ADA-B107-52D0-790D-C6F722322ED5}"/>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703E4976-C5B8-35FB-EB97-D556E1F9A5BC}"/>
              </a:ext>
            </a:extLst>
          </p:cNvPr>
          <p:cNvPicPr>
            <a:picLocks noGrp="1" noChangeAspect="1"/>
          </p:cNvPicPr>
          <p:nvPr>
            <p:ph idx="1"/>
          </p:nvPr>
        </p:nvPicPr>
        <p:blipFill>
          <a:blip r:embed="rId2"/>
          <a:stretch>
            <a:fillRect/>
          </a:stretch>
        </p:blipFill>
        <p:spPr>
          <a:xfrm>
            <a:off x="581025" y="1400589"/>
            <a:ext cx="11029950" cy="4475921"/>
          </a:xfrm>
          <a:prstGeom prst="rect">
            <a:avLst/>
          </a:prstGeom>
        </p:spPr>
      </p:pic>
    </p:spTree>
    <p:extLst>
      <p:ext uri="{BB962C8B-B14F-4D97-AF65-F5344CB8AC3E}">
        <p14:creationId xmlns:p14="http://schemas.microsoft.com/office/powerpoint/2010/main" val="282091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BFF12-DA58-1DFD-1EBE-55C34CD739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385E45-3382-DEFC-1AC2-72D649FF502C}"/>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7" name="Content Placeholder 6">
            <a:extLst>
              <a:ext uri="{FF2B5EF4-FFF2-40B4-BE49-F238E27FC236}">
                <a16:creationId xmlns:a16="http://schemas.microsoft.com/office/drawing/2014/main" id="{8205796D-1B1E-5759-65D3-4EECD3C7A2BB}"/>
              </a:ext>
            </a:extLst>
          </p:cNvPr>
          <p:cNvPicPr>
            <a:picLocks noGrp="1" noChangeAspect="1"/>
          </p:cNvPicPr>
          <p:nvPr>
            <p:ph idx="1"/>
          </p:nvPr>
        </p:nvPicPr>
        <p:blipFill>
          <a:blip r:embed="rId2"/>
          <a:stretch>
            <a:fillRect/>
          </a:stretch>
        </p:blipFill>
        <p:spPr>
          <a:xfrm>
            <a:off x="581025" y="1386169"/>
            <a:ext cx="11029950" cy="4504761"/>
          </a:xfrm>
          <a:prstGeom prst="rect">
            <a:avLst/>
          </a:prstGeom>
        </p:spPr>
      </p:pic>
    </p:spTree>
    <p:extLst>
      <p:ext uri="{BB962C8B-B14F-4D97-AF65-F5344CB8AC3E}">
        <p14:creationId xmlns:p14="http://schemas.microsoft.com/office/powerpoint/2010/main" val="340025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F70AA-718D-8929-5031-3D2C44631E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668872B-D1D0-7922-C7C0-63C85EE6EFFC}"/>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E6C008D9-CBD4-2D38-B4B9-02C2B5EEA016}"/>
              </a:ext>
            </a:extLst>
          </p:cNvPr>
          <p:cNvPicPr>
            <a:picLocks noGrp="1" noChangeAspect="1"/>
          </p:cNvPicPr>
          <p:nvPr>
            <p:ph idx="1"/>
          </p:nvPr>
        </p:nvPicPr>
        <p:blipFill>
          <a:blip r:embed="rId2"/>
          <a:stretch>
            <a:fillRect/>
          </a:stretch>
        </p:blipFill>
        <p:spPr>
          <a:xfrm>
            <a:off x="581025" y="1410586"/>
            <a:ext cx="11029950" cy="4455928"/>
          </a:xfrm>
          <a:prstGeom prst="rect">
            <a:avLst/>
          </a:prstGeom>
        </p:spPr>
      </p:pic>
    </p:spTree>
    <p:extLst>
      <p:ext uri="{BB962C8B-B14F-4D97-AF65-F5344CB8AC3E}">
        <p14:creationId xmlns:p14="http://schemas.microsoft.com/office/powerpoint/2010/main" val="1528707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3" y="967304"/>
            <a:ext cx="11029615" cy="4673324"/>
          </a:xfrm>
        </p:spPr>
        <p:txBody>
          <a:bodyPr>
            <a:normAutofit/>
          </a:bodyPr>
          <a:lstStyle/>
          <a:p>
            <a:pPr marL="0" indent="0" algn="just">
              <a:buNone/>
            </a:pPr>
            <a:r>
              <a:rPr lang="en-US" sz="2000" dirty="0">
                <a:solidFill>
                  <a:srgbClr val="0F0F0F"/>
                </a:solidFill>
              </a:rPr>
              <a:t>The project demonstrates how generative artificial intelligence and computer vision can support waste management by predicting a waste item's material category and proper disposal path.</a:t>
            </a:r>
          </a:p>
          <a:p>
            <a:pPr marL="305435" indent="-305435" algn="just"/>
            <a:r>
              <a:rPr lang="en-IN" sz="2000" dirty="0">
                <a:solidFill>
                  <a:srgbClr val="0F0F0F"/>
                </a:solidFill>
              </a:rPr>
              <a:t>Real-time waste classification: Delivers instant predictions on uploaded image files.</a:t>
            </a:r>
          </a:p>
          <a:p>
            <a:pPr marL="305435" indent="-305435" algn="just"/>
            <a:r>
              <a:rPr lang="en-IN" sz="2000" dirty="0">
                <a:solidFill>
                  <a:srgbClr val="0F0F0F"/>
                </a:solidFill>
              </a:rPr>
              <a:t>Interactive visual input: Allows users to easily drop and test various material images.</a:t>
            </a:r>
          </a:p>
          <a:p>
            <a:pPr marL="305435" indent="-305435" algn="just"/>
            <a:r>
              <a:rPr lang="en-IN" sz="2000" dirty="0">
                <a:solidFill>
                  <a:srgbClr val="0F0F0F"/>
                </a:solidFill>
              </a:rPr>
              <a:t>Probability-based results: Displays direct confidence scores alongside classification targets.</a:t>
            </a:r>
          </a:p>
          <a:p>
            <a:pPr marL="305435" indent="-305435" algn="just"/>
            <a:r>
              <a:rPr lang="en-IN" sz="2000" dirty="0">
                <a:solidFill>
                  <a:srgbClr val="0F0F0F"/>
                </a:solidFill>
              </a:rPr>
              <a:t>High overall classification accuracy: Minimizes sorting errors via a pre-trained multimodal model.</a:t>
            </a:r>
          </a:p>
          <a:p>
            <a:pPr marL="305435" indent="-305435" algn="just"/>
            <a:r>
              <a:rPr lang="en-IN" sz="2000" dirty="0">
                <a:solidFill>
                  <a:srgbClr val="0F0F0F"/>
                </a:solidFill>
              </a:rPr>
              <a:t>Easy-to-use </a:t>
            </a:r>
            <a:r>
              <a:rPr lang="en-IN" sz="2000" dirty="0" err="1">
                <a:solidFill>
                  <a:srgbClr val="0F0F0F"/>
                </a:solidFill>
              </a:rPr>
              <a:t>Streamlit</a:t>
            </a:r>
            <a:r>
              <a:rPr lang="en-IN" sz="2000" dirty="0">
                <a:solidFill>
                  <a:srgbClr val="0F0F0F"/>
                </a:solidFill>
              </a:rPr>
              <a:t> interface: Provides a clean, accessible layout designed for public users.</a:t>
            </a:r>
          </a:p>
          <a:p>
            <a:pPr marL="305435" indent="-305435" algn="just"/>
            <a:r>
              <a:rPr lang="en-IN" sz="2000" dirty="0">
                <a:solidFill>
                  <a:srgbClr val="0F0F0F"/>
                </a:solidFill>
              </a:rPr>
              <a:t>Practical application of Generative AI: Deploys a zero-shot visual prompting strategy for ecological sustainability</a:t>
            </a:r>
          </a:p>
        </p:txBody>
      </p:sp>
    </p:spTree>
    <p:extLst>
      <p:ext uri="{BB962C8B-B14F-4D97-AF65-F5344CB8AC3E}">
        <p14:creationId xmlns:p14="http://schemas.microsoft.com/office/powerpoint/2010/main" val="318331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Improve prediction performance with advanced ML algorithms and prompt tuning frameworks.</a:t>
            </a:r>
          </a:p>
          <a:p>
            <a:pPr marL="305435" indent="-305435"/>
            <a:r>
              <a:rPr lang="en-US" sz="2000" dirty="0">
                <a:ea typeface="+mn-lt"/>
                <a:cs typeface="+mn-lt"/>
              </a:rPr>
              <a:t>Add resin identification capabilities for automatic plastic sorting refinement.</a:t>
            </a:r>
          </a:p>
          <a:p>
            <a:pPr marL="305435" indent="-305435"/>
            <a:r>
              <a:rPr lang="en-US" sz="2000" dirty="0">
                <a:ea typeface="+mn-lt"/>
                <a:cs typeface="+mn-lt"/>
              </a:rPr>
              <a:t>Introduce explainable AI framework models to detail pixel-level classification insights.</a:t>
            </a:r>
          </a:p>
          <a:p>
            <a:pPr marL="305435" indent="-305435"/>
            <a:r>
              <a:rPr lang="en-US" sz="2000" dirty="0">
                <a:ea typeface="+mn-lt"/>
                <a:cs typeface="+mn-lt"/>
              </a:rPr>
              <a:t>Add real-time classification metrics tracking based on historical recycling user patterns.</a:t>
            </a:r>
          </a:p>
          <a:p>
            <a:pPr marL="305435" indent="-305435"/>
            <a:r>
              <a:rPr lang="en-US" sz="2000" dirty="0">
                <a:ea typeface="+mn-lt"/>
                <a:cs typeface="+mn-lt"/>
              </a:rPr>
              <a:t>Develop an automated sorting router application for smart physical recycling infrastructure.</a:t>
            </a:r>
          </a:p>
          <a:p>
            <a:pPr marL="305435" indent="-305435"/>
            <a:r>
              <a:rPr lang="en-US" sz="2000" dirty="0">
                <a:ea typeface="+mn-lt"/>
                <a:cs typeface="+mn-lt"/>
              </a:rPr>
              <a:t>Integrate the application with real-time video streaming and continuous webcam image feeds.</a:t>
            </a:r>
          </a:p>
          <a:p>
            <a:pPr marL="305435" indent="-305435"/>
            <a:r>
              <a:rPr lang="en-US" sz="2000" dirty="0">
                <a:ea typeface="+mn-lt"/>
                <a:cs typeface="+mn-lt"/>
              </a:rPr>
              <a:t>Deploy the system as a scalable production application integrated directly into public cloud environments..</a:t>
            </a:r>
            <a:endParaRPr lang="en-US" sz="2000"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t>IBM </a:t>
            </a:r>
            <a:r>
              <a:rPr lang="en-IN" sz="2400" dirty="0" err="1"/>
              <a:t>SkillsBuild</a:t>
            </a:r>
            <a:r>
              <a:rPr lang="en-IN" sz="2400" dirty="0"/>
              <a:t> Learning Platform: Foundational coursework in applied Artificial Intelligence, Machine Learning pipelines, and sustainable technology.</a:t>
            </a:r>
          </a:p>
          <a:p>
            <a:pPr marL="305435" indent="-305435"/>
            <a:r>
              <a:rPr lang="en-IN" sz="2400" dirty="0"/>
              <a:t>Google Gemini API Technical Documentation: Reference manuals for visual analysis models using the google-</a:t>
            </a:r>
            <a:r>
              <a:rPr lang="en-IN" sz="2400" dirty="0" err="1"/>
              <a:t>generativeai</a:t>
            </a:r>
            <a:r>
              <a:rPr lang="en-IN" sz="2400" dirty="0"/>
              <a:t> developer SDK.</a:t>
            </a:r>
          </a:p>
          <a:p>
            <a:pPr marL="305435" indent="-305435"/>
            <a:r>
              <a:rPr lang="en-IN" sz="2400" dirty="0" err="1"/>
              <a:t>Streamlit</a:t>
            </a:r>
            <a:r>
              <a:rPr lang="en-IN" sz="2400" dirty="0"/>
              <a:t> Core Framework Documentation: UI components layout guidelines and production application cloud deployment strategies.</a:t>
            </a:r>
          </a:p>
          <a:p>
            <a:pPr marL="305435" indent="-305435"/>
            <a:r>
              <a:rPr lang="en-IN" sz="2400" dirty="0" err="1"/>
              <a:t>Edunet</a:t>
            </a:r>
            <a:r>
              <a:rPr lang="en-IN" sz="2400" dirty="0"/>
              <a:t> Foundation Internship Program: Project guidelines, capstone requirements, and mentor evaluation criteria.</a:t>
            </a:r>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a:lstStyle/>
          <a:p>
            <a:r>
              <a:rPr lang="en-IN"/>
              <a:t>Deployment link / </a:t>
            </a:r>
            <a:r>
              <a:rPr lang="en-IN" err="1"/>
              <a:t>github</a:t>
            </a:r>
            <a:r>
              <a:rPr lang="en-IN"/>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a:lstStyle/>
          <a:p>
            <a:pPr marL="305435" indent="-305435"/>
            <a:r>
              <a:rPr lang="en-IN" sz="2800" dirty="0" err="1"/>
              <a:t>Github</a:t>
            </a:r>
            <a:r>
              <a:rPr lang="en-IN" sz="2800" dirty="0"/>
              <a:t> Link: https://github.com/ayushisharmaglobal-sketch/Plastic-Waste-Analyzer.git</a:t>
            </a:r>
            <a:endParaRPr lang="en-US" sz="2800" dirty="0"/>
          </a:p>
          <a:p>
            <a:pPr marL="0" indent="0">
              <a:buNone/>
            </a:pPr>
            <a:endParaRPr lang="en-IN" dirty="0"/>
          </a:p>
          <a:p>
            <a:pPr marL="305435" indent="-305435"/>
            <a:r>
              <a:rPr lang="en-US" sz="3200" dirty="0">
                <a:hlinkClick r:id="rId2"/>
              </a:rPr>
              <a:t>Live Plastic Waste Analyzer app</a:t>
            </a:r>
            <a:endParaRPr lang="en-IN" sz="3200" dirty="0"/>
          </a:p>
        </p:txBody>
      </p:sp>
    </p:spTree>
    <p:extLst>
      <p:ext uri="{BB962C8B-B14F-4D97-AF65-F5344CB8AC3E}">
        <p14:creationId xmlns:p14="http://schemas.microsoft.com/office/powerpoint/2010/main" val="258852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100</TotalTime>
  <Words>731</Words>
  <Application>Microsoft Office PowerPoint</Application>
  <PresentationFormat>Widescreen</PresentationFormat>
  <Paragraphs>87</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Franklin Gothic Book</vt:lpstr>
      <vt:lpstr>Franklin Gothic Demi</vt:lpstr>
      <vt:lpstr>Wingdings 2</vt:lpstr>
      <vt:lpstr>DividendVTI</vt:lpstr>
      <vt:lpstr>AI-Powered Plastic Waste Analyzer &amp; Classification System</vt:lpstr>
      <vt:lpstr>OUTLINE</vt:lpstr>
      <vt:lpstr>Problem Statement</vt:lpstr>
      <vt:lpstr>Proposed Solution</vt:lpstr>
      <vt:lpstr>System  Approach</vt:lpstr>
      <vt:lpstr>Algorithm &amp; Deployment</vt:lpstr>
      <vt:lpstr>Result</vt:lpstr>
      <vt:lpstr>Result</vt:lpstr>
      <vt:lpstr>Result</vt:lpstr>
      <vt:lpstr>Result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ishasharma9581@gmail.com</cp:lastModifiedBy>
  <cp:revision>4</cp:revision>
  <dcterms:created xsi:type="dcterms:W3CDTF">2021-05-26T16:50:10Z</dcterms:created>
  <dcterms:modified xsi:type="dcterms:W3CDTF">2026-09-30T18:13:06Z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